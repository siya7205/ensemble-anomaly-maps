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Rank normalization converts each signal to [0,1]. Median fusion combines signals robustly. Moving median window (w=5) smooths temporal jitter. Top 10% threshold (vertical line) defines anomaly candidates.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ROC curve shows excellent separation between anomalous and normal frames. The curve hugs the top-left corner, indicating high sensitivity at low false positive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 curve is especially important for imbalanced datasets. High precision at high recall indicates reliable anomaly detection without excessive false positives.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residues show the highest anomaly scores. Residues with 100% disallowed phi/psi angles are in unusual backbone conformations. Follow up with structural analysis and mutagenesis.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representative frames illustrate the score distribution. The normal frame (low score) shows typical conformation. The anomalous frame (high score) is a rare, unusual state. The ambiguous frame is intermediate.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Ensemble Anomaly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Dynamic Hotspot Detection in Molecular Dynamics</a:t>
            </a:r>
            <a:br/>
            <a:br/>
            <a:r>
              <a:t>Author: Research Team</a:t>
            </a:r>
            <a:br/>
            <a:r>
              <a:t>GitHub: siya7205/ensemble-anomaly-maps</a:t>
            </a:r>
            <a:br/>
            <a:r>
              <a:t>November 30,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Problem: Identify anomalous conformations and residue hotspots in MD trajectories</a:t>
            </a:r>
          </a:p>
          <a:p>
            <a:pPr>
              <a:spcAft>
                <a:spcPts val="1200"/>
              </a:spcAft>
              <a:defRPr sz="1800"/>
            </a:pPr>
            <a:r>
              <a:t>• Result: AUROC = 1.000 on 200 frames (44 positive)</a:t>
            </a:r>
          </a:p>
          <a:p>
            <a:pPr>
              <a:spcAft>
                <a:spcPts val="1200"/>
              </a:spcAft>
              <a:defRPr sz="1800"/>
            </a:pPr>
            <a:r>
              <a:t>• Ask: Approve 2-week pilot on prospective trajectories for validation</a:t>
            </a:r>
          </a:p>
          <a:p>
            <a:pPr>
              <a:spcAft>
                <a:spcPts val="1200"/>
              </a:spcAft>
              <a:defRPr sz="1800"/>
            </a:pPr>
            <a:r>
              <a:t>• ⚠️ Note: Perfect AUROC suggests synthetic/curated dataset – requires external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Problem Statement &amp; Motivation</a:t>
            </a:r>
          </a:p>
          <a:p>
            <a:pPr>
              <a:spcAft>
                <a:spcPts val="1200"/>
              </a:spcAft>
              <a:defRPr sz="1800"/>
            </a:pPr>
            <a:r>
              <a:t>• Pipeline Overview: tICA → MSM → Anomaly Scoring</a:t>
            </a:r>
          </a:p>
          <a:p>
            <a:pPr>
              <a:spcAft>
                <a:spcPts val="1200"/>
              </a:spcAft>
              <a:defRPr sz="1800"/>
            </a:pPr>
            <a:r>
              <a:t>• Data, Features, and Preprocessing</a:t>
            </a:r>
          </a:p>
          <a:p>
            <a:pPr>
              <a:spcAft>
                <a:spcPts val="1200"/>
              </a:spcAft>
              <a:defRPr sz="1800"/>
            </a:pPr>
            <a:r>
              <a:t>• Methods: Base Detectors and Ensemble Fusion</a:t>
            </a:r>
          </a:p>
          <a:p>
            <a:pPr>
              <a:spcAft>
                <a:spcPts val="1200"/>
              </a:spcAft>
              <a:defRPr sz="1800"/>
            </a:pPr>
            <a:r>
              <a:t>• Results: ROC/PR Curves, Hotspot Examples</a:t>
            </a:r>
          </a:p>
          <a:p>
            <a:pPr>
              <a:spcAft>
                <a:spcPts val="1200"/>
              </a:spcAft>
              <a:defRPr sz="1800"/>
            </a:pPr>
            <a:r>
              <a:t>• Validation Plan and Limitations</a:t>
            </a:r>
          </a:p>
          <a:p>
            <a:pPr>
              <a:spcAft>
                <a:spcPts val="1200"/>
              </a:spcAft>
              <a:defRPr sz="1800"/>
            </a:pPr>
            <a:r>
              <a:t>• Technical Appendix (A1-A10)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Goal: Detect conformational anomalies in protein MD simulations</a:t>
            </a:r>
          </a:p>
          <a:p>
            <a:pPr>
              <a:spcAft>
                <a:spcPts val="1200"/>
              </a:spcAft>
              <a:defRPr sz="1800"/>
            </a:pPr>
            <a:r>
              <a:t>• Why it matters: Anomalous states often indicate functional sites, allosteric transitions, or druggable pockets</a:t>
            </a:r>
          </a:p>
          <a:p>
            <a:pPr>
              <a:spcAft>
                <a:spcPts val="1200"/>
              </a:spcAft>
              <a:defRPr sz="1800"/>
            </a:pPr>
            <a:r>
              <a:t>• Lab example: Enzyme active site residues show rare conformations during catalysis</a:t>
            </a:r>
          </a:p>
          <a:p>
            <a:pPr>
              <a:spcAft>
                <a:spcPts val="1200"/>
              </a:spcAft>
              <a:defRPr sz="1800"/>
            </a:pPr>
            <a:r>
              <a:t>• Challenge: MD trajectories are high-dimensional (10⁴-10⁵ atoms, 10³-10⁶ frames)</a:t>
            </a:r>
          </a:p>
          <a:p>
            <a:pPr>
              <a:spcAft>
                <a:spcPts val="1200"/>
              </a:spcAft>
              <a:defRPr sz="1800"/>
            </a:pPr>
            <a:r>
              <a:t>• Solution: ML-based dimensionality reduction + kinetic modeling + multi-signal fusion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Desired Outputs for Chemists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Per-frame anomaly ranking: Which frames show unusual behavior?</a:t>
            </a:r>
          </a:p>
          <a:p>
            <a:pPr>
              <a:spcAft>
                <a:spcPts val="1200"/>
              </a:spcAft>
              <a:defRPr sz="1800"/>
            </a:pPr>
            <a:r>
              <a:t>• Per-residue hotspot maps: Which residues drive the anomaly?</a:t>
            </a:r>
          </a:p>
          <a:p>
            <a:pPr>
              <a:spcAft>
                <a:spcPts val="1200"/>
              </a:spcAft>
              <a:defRPr sz="1800"/>
            </a:pPr>
            <a:r>
              <a:t>• Uncertainty quantification: Bootstrap confidence intervals</a:t>
            </a:r>
          </a:p>
          <a:p>
            <a:pPr>
              <a:spcAft>
                <a:spcPts val="1200"/>
              </a:spcAft>
              <a:defRPr sz="1800"/>
            </a:pPr>
            <a:r>
              <a:t>• Interactive viewer: 3D visualization with color-coded residues</a:t>
            </a:r>
          </a:p>
          <a:p>
            <a:pPr>
              <a:spcAft>
                <a:spcPts val="1200"/>
              </a:spcAft>
              <a:defRPr sz="1800"/>
            </a:pPr>
            <a:r>
              <a:t>• Exportable artifacts: CSV, JSON, Parquet for downstream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High-Level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Stage 1: Trajectory parsing (MDTraj) → topology.pdb + trajectory.xtc</a:t>
            </a:r>
          </a:p>
          <a:p>
            <a:pPr>
              <a:spcAft>
                <a:spcPts val="1200"/>
              </a:spcAft>
              <a:defRPr sz="1800"/>
            </a:pPr>
            <a:r>
              <a:t>• Stage 2: Feature extraction → backbone dihedrals, contacts, RMSD, Rg</a:t>
            </a:r>
          </a:p>
          <a:p>
            <a:pPr>
              <a:spcAft>
                <a:spcPts val="1200"/>
              </a:spcAft>
              <a:defRPr sz="1800"/>
            </a:pPr>
            <a:r>
              <a:t>• Stage 3: tICA projection → slow collective coordinates (tools/run_msm_tica.py)</a:t>
            </a:r>
          </a:p>
          <a:p>
            <a:pPr>
              <a:spcAft>
                <a:spcPts val="1200"/>
              </a:spcAft>
              <a:defRPr sz="1800"/>
            </a:pPr>
            <a:r>
              <a:t>• Stage 4: MSM construction → discrete states, transition probabilities</a:t>
            </a:r>
          </a:p>
          <a:p>
            <a:pPr>
              <a:spcAft>
                <a:spcPts val="1200"/>
              </a:spcAft>
              <a:defRPr sz="1800"/>
            </a:pPr>
            <a:r>
              <a:t>• Stage 5: Anomaly scoring → rarity, surprise, density signals (scoring/)</a:t>
            </a:r>
          </a:p>
          <a:p>
            <a:pPr>
              <a:spcAft>
                <a:spcPts val="1200"/>
              </a:spcAft>
              <a:defRPr sz="1800"/>
            </a:pPr>
            <a:r>
              <a:t>• Stage 6: Fusion &amp; export → rank-normalized, median-fused scores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Input: PDB topology + XTC/DCD trajectory (any MDTraj-compatible format)</a:t>
            </a:r>
          </a:p>
          <a:p>
            <a:pPr>
              <a:spcAft>
                <a:spcPts val="1200"/>
              </a:spcAft>
              <a:defRPr sz="1800"/>
            </a:pPr>
            <a:r>
              <a:t>• Alignment: Remove global rotation/translation (first frame reference)</a:t>
            </a:r>
          </a:p>
          <a:p>
            <a:pPr>
              <a:spcAft>
                <a:spcPts val="1200"/>
              </a:spcAft>
              <a:defRPr sz="1800"/>
            </a:pPr>
            <a:r>
              <a:t>• Features: φ/ψ dihedrals (sin/cos encoded), Cα-Cα contacts, RMSD, Rg</a:t>
            </a:r>
          </a:p>
          <a:p>
            <a:pPr>
              <a:spcAft>
                <a:spcPts val="1200"/>
              </a:spcAft>
              <a:defRPr sz="1800"/>
            </a:pPr>
            <a:r>
              <a:t>• Optional: Per-residue energies (knowledge-based), pocket dynamics</a:t>
            </a:r>
          </a:p>
          <a:p>
            <a:pPr>
              <a:spcAft>
                <a:spcPts val="1200"/>
              </a:spcAft>
              <a:defRPr sz="1800"/>
            </a:pPr>
            <a:r>
              <a:t>• Caching: Hash-based feature caching for reproducibility</a:t>
            </a:r>
          </a:p>
          <a:p>
            <a:pPr>
              <a:spcAft>
                <a:spcPts val="1200"/>
              </a:spcAft>
              <a:defRPr sz="1800"/>
            </a:pPr>
            <a:r>
              <a:t>• Code: features/compute_md_features.py, tools/extract_features.py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Temporal Reduction: 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Time-lagged Independent Component Analysis identifies slow motions</a:t>
            </a:r>
          </a:p>
          <a:p>
            <a:pPr>
              <a:spcAft>
                <a:spcPts val="1200"/>
              </a:spcAft>
              <a:defRPr sz="1800"/>
            </a:pPr>
            <a:r>
              <a:t>• Equation: Solve C₀⁻¹Cτ v = λv where Cτ = E[x_t ⊗ x_{t+τ}]</a:t>
            </a:r>
          </a:p>
          <a:p>
            <a:pPr>
              <a:spcAft>
                <a:spcPts val="1200"/>
              </a:spcAft>
              <a:defRPr sz="1800"/>
            </a:pPr>
            <a:r>
              <a:t>• Timescale: τᵢ = −lag/ln(λᵢ) — larger eigenvalues = slower modes</a:t>
            </a:r>
          </a:p>
          <a:p>
            <a:pPr>
              <a:spcAft>
                <a:spcPts val="1200"/>
              </a:spcAft>
              <a:defRPr sz="1800"/>
            </a:pPr>
            <a:r>
              <a:t>• Model selection: VAMP-2 score maximization over lag × dimension grid</a:t>
            </a:r>
          </a:p>
          <a:p>
            <a:pPr>
              <a:spcAft>
                <a:spcPts val="1200"/>
              </a:spcAft>
              <a:defRPr sz="1800"/>
            </a:pPr>
            <a:r>
              <a:t>• Parameters used: lag ∈ {5,10,15,20,30,50}, dim ∈ {2,3,4,5,6,8,10}</a:t>
            </a:r>
          </a:p>
          <a:p>
            <a:pPr>
              <a:spcAft>
                <a:spcPts val="1200"/>
              </a:spcAft>
              <a:defRPr sz="1800"/>
            </a:pPr>
            <a:r>
              <a:t>• References: Pérez-Hernández 2013 (JCTC), Wu &amp; Noé VAMP theory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Kinetics: Markov State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Discretize tICA space into k=30 states via k-means clustering</a:t>
            </a:r>
          </a:p>
          <a:p>
            <a:pPr>
              <a:spcAft>
                <a:spcPts val="1200"/>
              </a:spcAft>
              <a:defRPr sz="1800"/>
            </a:pPr>
            <a:r>
              <a:t>• Count transitions at lag τ → transition count matrix C</a:t>
            </a:r>
          </a:p>
          <a:p>
            <a:pPr>
              <a:spcAft>
                <a:spcPts val="1200"/>
              </a:spcAft>
              <a:defRPr sz="1800"/>
            </a:pPr>
            <a:r>
              <a:t>• MLE: P_ij = C_ij / Σⱼ C_ij (reversible estimator for detailed balance)</a:t>
            </a:r>
          </a:p>
          <a:p>
            <a:pPr>
              <a:spcAft>
                <a:spcPts val="1200"/>
              </a:spcAft>
              <a:defRPr sz="1800"/>
            </a:pPr>
            <a:r>
              <a:t>• Stationary distribution π: left eigenvector of P with λ=1</a:t>
            </a:r>
          </a:p>
          <a:p>
            <a:pPr>
              <a:spcAft>
                <a:spcPts val="1200"/>
              </a:spcAft>
              <a:defRPr sz="1800"/>
            </a:pPr>
            <a:r>
              <a:t>• Validation: Chapman-Kolmogorov test, implied timescale convergence</a:t>
            </a:r>
          </a:p>
          <a:p>
            <a:pPr>
              <a:spcAft>
                <a:spcPts val="1200"/>
              </a:spcAft>
              <a:defRPr sz="1800"/>
            </a:pPr>
            <a:r>
              <a:t>• Bootstrap: 100 iterations for confidence intervals (Phase 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Anomaly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Signal 1 — State Rarity: rarity(t) = 1 − π[state(t)]</a:t>
            </a:r>
          </a:p>
          <a:p>
            <a:pPr>
              <a:spcAft>
                <a:spcPts val="1200"/>
              </a:spcAft>
              <a:defRPr sz="1800"/>
            </a:pPr>
            <a:r>
              <a:t>• Signal 2 — Transition Surprise: surprise(t) = −log(P[s→s'] + ε)</a:t>
            </a:r>
          </a:p>
          <a:p>
            <a:pPr>
              <a:spcAft>
                <a:spcPts val="1200"/>
              </a:spcAft>
              <a:defRPr sz="1800"/>
            </a:pPr>
            <a:r>
              <a:t>• Signal 3 — Local Density: k-NN distance in tICA space (k=20)</a:t>
            </a:r>
          </a:p>
          <a:p>
            <a:pPr>
              <a:spcAft>
                <a:spcPts val="1200"/>
              </a:spcAft>
              <a:defRPr sz="1800"/>
            </a:pPr>
            <a:r>
              <a:t>• Signal 4 — Soft Entropy: −Σᵢ q(i|t)log q(i|t) from HMM (optional)</a:t>
            </a:r>
          </a:p>
          <a:p>
            <a:pPr>
              <a:spcAft>
                <a:spcPts val="1200"/>
              </a:spcAft>
              <a:defRPr sz="1800"/>
            </a:pPr>
            <a:r>
              <a:t>• Signal 5 — Energy Stress: per-residue knowledge-based potential (Phase 2)</a:t>
            </a:r>
          </a:p>
          <a:p>
            <a:pPr>
              <a:spcAft>
                <a:spcPts val="1200"/>
              </a:spcAft>
              <a:defRPr sz="1800"/>
            </a:pPr>
            <a:r>
              <a:t>• Signal 6 — Pocket Volatility: |ΔVolume| between frames (Phase 2)</a:t>
            </a:r>
          </a:p>
          <a:p>
            <a:pPr>
              <a:spcAft>
                <a:spcPts val="1200"/>
              </a:spcAft>
              <a:defRPr sz="1800"/>
            </a:pPr>
            <a:r>
              <a:t>• Per-residue: aggregate by tICA loadings or energy contribution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Base Detectors &amp;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Autoencoder/U-Net: Reconstruction error as anomaly proxy</a:t>
            </a:r>
          </a:p>
          <a:p>
            <a:pPr>
              <a:spcAft>
                <a:spcPts val="1200"/>
              </a:spcAft>
              <a:defRPr sz="1800"/>
            </a:pPr>
            <a:r>
              <a:t>• Density methods: k-NN distance, LOF, kernel density estimation</a:t>
            </a:r>
          </a:p>
          <a:p>
            <a:pPr>
              <a:spcAft>
                <a:spcPts val="1200"/>
              </a:spcAft>
              <a:defRPr sz="1800"/>
            </a:pPr>
            <a:r>
              <a:t>• One-class SVM: Decision boundary around normal class</a:t>
            </a:r>
          </a:p>
          <a:p>
            <a:pPr>
              <a:spcAft>
                <a:spcPts val="1200"/>
              </a:spcAft>
              <a:defRPr sz="1800"/>
            </a:pPr>
            <a:r>
              <a:t>• MSM signals: Rarity and surprise from kinetic model</a:t>
            </a:r>
          </a:p>
          <a:p>
            <a:pPr>
              <a:spcAft>
                <a:spcPts val="1200"/>
              </a:spcAft>
              <a:defRPr sz="1800"/>
            </a:pPr>
            <a:r>
              <a:t>• Ensemble strategy: Each detector votes; diversity improves robustness</a:t>
            </a:r>
          </a:p>
          <a:p>
            <a:pPr>
              <a:spcAft>
                <a:spcPts val="1200"/>
              </a:spcAft>
              <a:defRPr sz="1800"/>
            </a:pPr>
            <a:r>
              <a:t>• Uncertainty: Disagreement among detectors indicates ambiguous regions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Fusion, Smoothing &amp; Thresholds</a:t>
            </a:r>
          </a:p>
        </p:txBody>
      </p:sp>
      <p:pic>
        <p:nvPicPr>
          <p:cNvPr id="3" name="Picture 2" descr="score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3466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/>
            </a:pPr>
            <a:r>
              <a:t>Source: outputs/summary/score_distributions.png — shows anomaly/normal score separation with threshold markers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Methods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Commit: 7137f94e341c</a:t>
            </a:r>
          </a:p>
          <a:p>
            <a:pPr>
              <a:spcAft>
                <a:spcPts val="1200"/>
              </a:spcAft>
              <a:defRPr sz="1800"/>
            </a:pPr>
            <a:r>
              <a:t>• Generate metrics: python tools/compute_presentation_metrics.py --bootstrap 2000 --seed 0</a:t>
            </a:r>
          </a:p>
          <a:p>
            <a:pPr>
              <a:spcAft>
                <a:spcPts val="1200"/>
              </a:spcAft>
              <a:defRPr sz="1800"/>
            </a:pPr>
            <a:r>
              <a:t>• Generate example frames: python tools/export_example_frames.py --out-dir outputs/summary</a:t>
            </a:r>
          </a:p>
          <a:p>
            <a:pPr>
              <a:spcAft>
                <a:spcPts val="1200"/>
              </a:spcAft>
              <a:defRPr sz="1800"/>
            </a:pPr>
            <a:r>
              <a:t>• Dependencies: pip install -r requirements_metrics.txt</a:t>
            </a:r>
          </a:p>
          <a:p>
            <a:pPr>
              <a:spcAft>
                <a:spcPts val="1200"/>
              </a:spcAft>
              <a:defRPr sz="1800"/>
            </a:pPr>
            <a:r>
              <a:t>• Random seed: 0 (global), 42 (k-means), 123 (bootstrap)</a:t>
            </a:r>
          </a:p>
          <a:p>
            <a:pPr>
              <a:spcAft>
                <a:spcPts val="1200"/>
              </a:spcAft>
              <a:defRPr sz="1800"/>
            </a:pPr>
            <a:r>
              <a:t>• Output location: outputs/summary/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Numeric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95% CI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 positive /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44 / 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1.000–1.000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AUPRC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1.000–1.000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Precision@1%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Precision@5%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Precision@10%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Recall@1%FPR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Recall@5%FPR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ROC Curve</a:t>
            </a:r>
          </a:p>
        </p:txBody>
      </p:sp>
      <p:pic>
        <p:nvPicPr>
          <p:cNvPr id="3" name="Picture 2" descr="predictions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4461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/>
            </a:pPr>
            <a:r>
              <a:t>Source: outputs/summary/predictions_roc.png — AUROC = 1.000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Precision-Recall Curve</a:t>
            </a:r>
          </a:p>
        </p:txBody>
      </p:sp>
      <p:pic>
        <p:nvPicPr>
          <p:cNvPr id="3" name="Picture 2" descr="predictions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4461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/>
            </a:pPr>
            <a:r>
              <a:t>Source: outputs/summary/predictions_pr.png — AUPRC = 1.000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Top Residue Hotspots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Residue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Mean IF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% Disallowed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100.000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-0.044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Example Frames: Normal / Anomalous / Ambiguous</a:t>
            </a:r>
          </a:p>
        </p:txBody>
      </p:sp>
      <p:pic>
        <p:nvPicPr>
          <p:cNvPr id="3" name="Picture 2" descr="example_frame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2028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/>
            </a:pPr>
            <a:r>
              <a:t>Source: outputs/summary/example_frames_panel.png — generated with tools/export_example_frames.py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Validation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Bootstrap: B=2000 resamples for 95% CI on AUROC/AUPRC</a:t>
            </a:r>
          </a:p>
          <a:p>
            <a:pPr>
              <a:spcAft>
                <a:spcPts val="1200"/>
              </a:spcAft>
              <a:defRPr sz="1800"/>
            </a:pPr>
            <a:r>
              <a:t>• Grouped k-fold: Stratified splits respecting trajectory continuity</a:t>
            </a:r>
          </a:p>
          <a:p>
            <a:pPr>
              <a:spcAft>
                <a:spcPts val="1200"/>
              </a:spcAft>
              <a:defRPr sz="1800"/>
            </a:pPr>
            <a:r>
              <a:t>• Paired Wilcoxon: Compare ensemble vs. single-detector performance</a:t>
            </a:r>
          </a:p>
          <a:p>
            <a:pPr>
              <a:spcAft>
                <a:spcPts val="1200"/>
              </a:spcAft>
              <a:defRPr sz="1800"/>
            </a:pPr>
            <a:r>
              <a:t>• McNemar test: Compare binary predictions between methods</a:t>
            </a:r>
          </a:p>
          <a:p>
            <a:pPr>
              <a:spcAft>
                <a:spcPts val="1200"/>
              </a:spcAft>
              <a:defRPr sz="1800"/>
            </a:pPr>
            <a:r>
              <a:t>• Per-fold outputs: Inspect variance across splits</a:t>
            </a:r>
          </a:p>
          <a:p>
            <a:pPr>
              <a:spcAft>
                <a:spcPts val="1200"/>
              </a:spcAft>
              <a:defRPr sz="1800"/>
            </a:pPr>
            <a:r>
              <a:t>• Interpretation: Overlapping CIs → no significant difference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Ablations &amp; Sensitivity (Planned)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Ablation 1: Remove MSM signals → expect ~5-10% AUROC drop</a:t>
            </a:r>
          </a:p>
          <a:p>
            <a:pPr>
              <a:spcAft>
                <a:spcPts val="1200"/>
              </a:spcAft>
              <a:defRPr sz="1800"/>
            </a:pPr>
            <a:r>
              <a:t>• Ablation 2: Single detector only → expect higher variance</a:t>
            </a:r>
          </a:p>
          <a:p>
            <a:pPr>
              <a:spcAft>
                <a:spcPts val="1200"/>
              </a:spcAft>
              <a:defRPr sz="1800"/>
            </a:pPr>
            <a:r>
              <a:t>• Ablation 3: Vary k-means clusters (20, 30, 50) → stability check</a:t>
            </a:r>
          </a:p>
          <a:p>
            <a:pPr>
              <a:spcAft>
                <a:spcPts val="1200"/>
              </a:spcAft>
              <a:defRPr sz="1800"/>
            </a:pPr>
            <a:r>
              <a:t>• Ablation 4: Vary tICA lag (5, 10, 20, 30) → timescale sensitivity</a:t>
            </a:r>
          </a:p>
          <a:p>
            <a:pPr>
              <a:spcAft>
                <a:spcPts val="1200"/>
              </a:spcAft>
              <a:defRPr sz="1800"/>
            </a:pPr>
            <a:r>
              <a:t>• Ablation 5: Fusion method (median vs. mean) → robustness check</a:t>
            </a:r>
          </a:p>
          <a:p>
            <a:pPr>
              <a:spcAft>
                <a:spcPts val="1200"/>
              </a:spcAft>
              <a:defRPr sz="1800"/>
            </a:pPr>
            <a:r>
              <a:t>• Template: Fill table after running ablation experiments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Limitations &amp; Biological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Computational predictions require experimental validation</a:t>
            </a:r>
          </a:p>
          <a:p>
            <a:pPr>
              <a:spcAft>
                <a:spcPts val="1200"/>
              </a:spcAft>
              <a:defRPr sz="1800"/>
            </a:pPr>
            <a:r>
              <a:t>• Hotspots are hypotheses, not proven functional sites</a:t>
            </a:r>
          </a:p>
          <a:p>
            <a:pPr>
              <a:spcAft>
                <a:spcPts val="1200"/>
              </a:spcAft>
              <a:defRPr sz="1800"/>
            </a:pPr>
            <a:r>
              <a:t>• Orthogonal tests: mutagenesis, NMR order parameters, HDX-MS</a:t>
            </a:r>
          </a:p>
          <a:p>
            <a:pPr>
              <a:spcAft>
                <a:spcPts val="1200"/>
              </a:spcAft>
              <a:defRPr sz="1800"/>
            </a:pPr>
            <a:r>
              <a:t>• Conservation analysis: Compare predicted hotspots to MSA conservation</a:t>
            </a:r>
          </a:p>
          <a:p>
            <a:pPr>
              <a:spcAft>
                <a:spcPts val="1200"/>
              </a:spcAft>
              <a:defRPr sz="1800"/>
            </a:pPr>
            <a:r>
              <a:t>• Literature validation: Cross-reference with known functional sites</a:t>
            </a:r>
          </a:p>
          <a:p>
            <a:pPr>
              <a:spcAft>
                <a:spcPts val="1200"/>
              </a:spcAft>
              <a:defRPr sz="1800"/>
            </a:pPr>
            <a:r>
              <a:t>• Prospective pilot: Apply to new trajectories before deployment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Specific Ask &amp;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Ask: Approve 2-week prospective pilot on N new trajectories</a:t>
            </a:r>
          </a:p>
          <a:p>
            <a:pPr>
              <a:spcAft>
                <a:spcPts val="1200"/>
              </a:spcAft>
              <a:defRPr sz="1800"/>
            </a:pPr>
            <a:r>
              <a:t>• Resources: 1 compute node, 1 FTE analyst, access to 3-5 MD runs</a:t>
            </a:r>
          </a:p>
          <a:p>
            <a:pPr>
              <a:spcAft>
                <a:spcPts val="1200"/>
              </a:spcAft>
              <a:defRPr sz="1800"/>
            </a:pPr>
            <a:r>
              <a:t>• Week 1: Run pipeline on new trajectories, compare to current results</a:t>
            </a:r>
          </a:p>
          <a:p>
            <a:pPr>
              <a:spcAft>
                <a:spcPts val="1200"/>
              </a:spcAft>
              <a:defRPr sz="1800"/>
            </a:pPr>
            <a:r>
              <a:t>• Week 2: Validate top hotspots against literature, prepare report</a:t>
            </a:r>
          </a:p>
          <a:p>
            <a:pPr>
              <a:spcAft>
                <a:spcPts val="1200"/>
              </a:spcAft>
              <a:defRPr sz="1800"/>
            </a:pPr>
            <a:r>
              <a:t>• Go/No-Go: AUROC ≥ 0.85 on prospective data, ≥3 literature-validated hotspots</a:t>
            </a:r>
          </a:p>
          <a:p>
            <a:pPr>
              <a:spcAft>
                <a:spcPts val="1200"/>
              </a:spcAft>
              <a:defRPr sz="1800"/>
            </a:pPr>
            <a:r>
              <a:t>• Deliverable: Updated metrics, residue ranking, recommendation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References &amp; 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tICA: Pérez-Hernández et al. JCTC 2013; Wu &amp; Noé VAMP theory 2020</a:t>
            </a:r>
          </a:p>
          <a:p>
            <a:pPr>
              <a:spcAft>
                <a:spcPts val="1200"/>
              </a:spcAft>
              <a:defRPr sz="1800"/>
            </a:pPr>
            <a:r>
              <a:t>• MSM: Prinz et al. JCP 2011; Noé et al. PNAS 2009</a:t>
            </a:r>
          </a:p>
          <a:p>
            <a:pPr>
              <a:spcAft>
                <a:spcPts val="1200"/>
              </a:spcAft>
              <a:defRPr sz="1800"/>
            </a:pPr>
            <a:r>
              <a:t>• Anomaly Detection: Chandola et al. ACM CSUR 2009; Aggarwal 2017</a:t>
            </a:r>
          </a:p>
          <a:p>
            <a:pPr>
              <a:spcAft>
                <a:spcPts val="1200"/>
              </a:spcAft>
              <a:defRPr sz="1800"/>
            </a:pPr>
            <a:r>
              <a:t>• Autoencoders: Sakurada &amp; Yairi 2014 (autoencoders for anomaly)</a:t>
            </a:r>
          </a:p>
          <a:p>
            <a:pPr>
              <a:spcAft>
                <a:spcPts val="1200"/>
              </a:spcAft>
              <a:defRPr sz="1800"/>
            </a:pPr>
            <a:r>
              <a:t>• Bootstrap: Efron &amp; Tibshirani 1993</a:t>
            </a:r>
          </a:p>
          <a:p>
            <a:pPr>
              <a:spcAft>
                <a:spcPts val="1200"/>
              </a:spcAft>
              <a:defRPr sz="1800"/>
            </a:pPr>
            <a:r>
              <a:t>• Software: deeptime, MDTraj, scikit-learn</a:t>
            </a:r>
          </a:p>
          <a:p>
            <a:pPr>
              <a:spcAft>
                <a:spcPts val="1200"/>
              </a:spcAft>
              <a:defRPr sz="1800"/>
            </a:pPr>
            <a:r>
              <a:t>• Full bibliography in Appendix A10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Technical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Detailed Methods, Math, and Reproducibility Materials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 A1: tICA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Time-lagged covariance: Cτ = (1/T-τ) Σₜ xₜ xₜ₊τᵀ</a:t>
            </a:r>
          </a:p>
          <a:p>
            <a:pPr>
              <a:spcAft>
                <a:spcPts val="1200"/>
              </a:spcAft>
              <a:defRPr sz="1800"/>
            </a:pPr>
            <a:r>
              <a:t>• Generalized eigenvalue problem: Cτ v = λ C₀ v</a:t>
            </a:r>
          </a:p>
          <a:p>
            <a:pPr>
              <a:spcAft>
                <a:spcPts val="1200"/>
              </a:spcAft>
              <a:defRPr sz="1800"/>
            </a:pPr>
            <a:r>
              <a:t>• Eigenvalues λᵢ ∈ (0,1] → timescales τᵢ = −lag/ln(λᵢ)</a:t>
            </a:r>
          </a:p>
          <a:p>
            <a:pPr>
              <a:spcAft>
                <a:spcPts val="1200"/>
              </a:spcAft>
              <a:defRPr sz="1800"/>
            </a:pPr>
            <a:r>
              <a:t>• VAMP-2 score: Σᵢ σᵢ² where σ are singular values of C₀₁</a:t>
            </a:r>
          </a:p>
          <a:p>
            <a:pPr>
              <a:spcAft>
                <a:spcPts val="1200"/>
              </a:spcAft>
              <a:defRPr sz="1800"/>
            </a:pPr>
            <a:r>
              <a:t>• Implementation: deeptime.decomposition.TICA</a:t>
            </a:r>
          </a:p>
          <a:p>
            <a:pPr>
              <a:spcAft>
                <a:spcPts val="1200"/>
              </a:spcAft>
              <a:defRPr sz="1800"/>
            </a:pPr>
            <a:r>
              <a:t>• Validation: VAMP-2 on held-out 20% for model selection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 A2: MSM Mathematics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Transition count matrix: Cᵢⱼ = #{t: s(t)=i, s(t+τ)=j}</a:t>
            </a:r>
          </a:p>
          <a:p>
            <a:pPr>
              <a:spcAft>
                <a:spcPts val="1200"/>
              </a:spcAft>
              <a:defRPr sz="1800"/>
            </a:pPr>
            <a:r>
              <a:t>• MLE estimator: Pᵢⱼ = Cᵢⱼ / Σⱼ Cᵢⱼ</a:t>
            </a:r>
          </a:p>
          <a:p>
            <a:pPr>
              <a:spcAft>
                <a:spcPts val="1200"/>
              </a:spcAft>
              <a:defRPr sz="1800"/>
            </a:pPr>
            <a:r>
              <a:t>• Reversible MLE: max Σᵢⱼ Cᵢⱼ log Pᵢⱼ s.t. πᵢPᵢⱼ = πⱼPⱼᵢ</a:t>
            </a:r>
          </a:p>
          <a:p>
            <a:pPr>
              <a:spcAft>
                <a:spcPts val="1200"/>
              </a:spcAft>
              <a:defRPr sz="1800"/>
            </a:pPr>
            <a:r>
              <a:t>• Stationary distribution: πP = π, Σᵢπᵢ = 1</a:t>
            </a:r>
          </a:p>
          <a:p>
            <a:pPr>
              <a:spcAft>
                <a:spcPts val="1200"/>
              </a:spcAft>
              <a:defRPr sz="1800"/>
            </a:pPr>
            <a:r>
              <a:t>• Implied timescales: τₖ = −lag / ln(λₖ)</a:t>
            </a:r>
          </a:p>
          <a:p>
            <a:pPr>
              <a:spcAft>
                <a:spcPts val="1200"/>
              </a:spcAft>
              <a:defRPr sz="1800"/>
            </a:pPr>
            <a:r>
              <a:t>• Chapman-Kolmogorov: P(nτ) ≈ P(τ)ⁿ (validation)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 A3: Anomaly Signal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Rarity: r(t) = 1 − π[s(t)]</a:t>
            </a:r>
          </a:p>
          <a:p>
            <a:pPr>
              <a:spcAft>
                <a:spcPts val="1200"/>
              </a:spcAft>
              <a:defRPr sz="1800"/>
            </a:pPr>
            <a:r>
              <a:t>• Surprise: s(t) = −log(P[s(t)→s(t+1)] + 10⁻¹²)</a:t>
            </a:r>
          </a:p>
          <a:p>
            <a:pPr>
              <a:spcAft>
                <a:spcPts val="1200"/>
              </a:spcAft>
              <a:defRPr sz="1800"/>
            </a:pPr>
            <a:r>
              <a:t>• Density: d(t) = (1/k) Σⱼ∈kNN(t) ||xₜ − xⱼ||</a:t>
            </a:r>
          </a:p>
          <a:p>
            <a:pPr>
              <a:spcAft>
                <a:spcPts val="1200"/>
              </a:spcAft>
              <a:defRPr sz="1800"/>
            </a:pPr>
            <a:r>
              <a:t>• Entropy: H(t) = −Σᵢ q(i|t) log q(i|t) (soft assignments)</a:t>
            </a:r>
          </a:p>
          <a:p>
            <a:pPr>
              <a:spcAft>
                <a:spcPts val="1200"/>
              </a:spcAft>
              <a:defRPr sz="1800"/>
            </a:pPr>
            <a:r>
              <a:t>• Energy: E(t) = Σᵣ Econtact(r, t) (Miyazawa-Jernigan)</a:t>
            </a:r>
          </a:p>
          <a:p>
            <a:pPr>
              <a:spcAft>
                <a:spcPts val="1200"/>
              </a:spcAft>
              <a:defRPr sz="1800"/>
            </a:pPr>
            <a:r>
              <a:t>• Pocket: V(t) = |Vol(t) − Vol(t−1)|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 A4: Autoencoder Architecture (Optional)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Type: Fully-connected autoencoder or U-Net for 1D features</a:t>
            </a:r>
          </a:p>
          <a:p>
            <a:pPr>
              <a:spcAft>
                <a:spcPts val="1200"/>
              </a:spcAft>
              <a:defRPr sz="1800"/>
            </a:pPr>
            <a:r>
              <a:t>• Encoder: Input → 256 → 128 → 64 → latent_dim (default: 16)</a:t>
            </a:r>
          </a:p>
          <a:p>
            <a:pPr>
              <a:spcAft>
                <a:spcPts val="1200"/>
              </a:spcAft>
              <a:defRPr sz="1800"/>
            </a:pPr>
            <a:r>
              <a:t>• Decoder: latent_dim → 64 → 128 → 256 → Output</a:t>
            </a:r>
          </a:p>
          <a:p>
            <a:pPr>
              <a:spcAft>
                <a:spcPts val="1200"/>
              </a:spcAft>
              <a:defRPr sz="1800"/>
            </a:pPr>
            <a:r>
              <a:t>• Activation: ReLU (hidden), Linear (output)</a:t>
            </a:r>
          </a:p>
          <a:p>
            <a:pPr>
              <a:spcAft>
                <a:spcPts val="1200"/>
              </a:spcAft>
              <a:defRPr sz="1800"/>
            </a:pPr>
            <a:r>
              <a:t>• Loss: MSE reconstruction error</a:t>
            </a:r>
          </a:p>
          <a:p>
            <a:pPr>
              <a:spcAft>
                <a:spcPts val="1200"/>
              </a:spcAft>
              <a:defRPr sz="1800"/>
            </a:pPr>
            <a:r>
              <a:t>• Training: Adam lr=1e-3, early stopping (patience=10), batch=64</a:t>
            </a:r>
          </a:p>
          <a:p>
            <a:pPr>
              <a:spcAft>
                <a:spcPts val="1200"/>
              </a:spcAft>
              <a:defRPr sz="1800"/>
            </a:pPr>
            <a:r>
              <a:t>• Model weights: models/autoencoder/ (if trained)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 A5: Statistical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Bootstrap (Efron): Sample n indices with replacement B=2000 times</a:t>
            </a:r>
          </a:p>
          <a:p>
            <a:pPr>
              <a:spcAft>
                <a:spcPts val="1200"/>
              </a:spcAft>
              <a:defRPr sz="1800"/>
            </a:pPr>
            <a:r>
              <a:t>• Percentile CI: [Q_{α/2}, Q_{1−α/2}] of bootstrap distribution</a:t>
            </a:r>
          </a:p>
          <a:p>
            <a:pPr>
              <a:spcAft>
                <a:spcPts val="1200"/>
              </a:spcAft>
              <a:defRPr sz="1800"/>
            </a:pPr>
            <a:r>
              <a:t>• Paired Wilcoxon: Compare matched scores; test H₀: median diff = 0</a:t>
            </a:r>
          </a:p>
          <a:p>
            <a:pPr>
              <a:spcAft>
                <a:spcPts val="1200"/>
              </a:spcAft>
              <a:defRPr sz="1800"/>
            </a:pPr>
            <a:r>
              <a:t>• McNemar: 2×2 table of disagreements; test H₀: P(b) = P(c)</a:t>
            </a:r>
          </a:p>
          <a:p>
            <a:pPr>
              <a:spcAft>
                <a:spcPts val="1200"/>
              </a:spcAft>
              <a:defRPr sz="1800"/>
            </a:pPr>
            <a:r>
              <a:t>• Effect size: Cohen's d = (μ₁−μ₂)/σ_pooled; rank-biserial for Wilcoxon</a:t>
            </a:r>
          </a:p>
          <a:p>
            <a:pPr>
              <a:spcAft>
                <a:spcPts val="1200"/>
              </a:spcAft>
              <a:defRPr sz="1800"/>
            </a:pPr>
            <a:r>
              <a:t>• Python: sklearn.utils.resample, scipy.stats.wilcoxon, mcnemar_test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 A6: Fusion &amp;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Rank normalization: norm(x) = rank(x) / (N−1) ∈ [0,1]</a:t>
            </a:r>
          </a:p>
          <a:p>
            <a:pPr>
              <a:spcAft>
                <a:spcPts val="1200"/>
              </a:spcAft>
              <a:defRPr sz="1800"/>
            </a:pPr>
            <a:r>
              <a:t>• Median fusion: score(t) = median([s₁(t), s₂(t), ..., sₖ(t)])</a:t>
            </a:r>
          </a:p>
          <a:p>
            <a:pPr>
              <a:spcAft>
                <a:spcPts val="1200"/>
              </a:spcAft>
              <a:defRPr sz="1800"/>
            </a:pPr>
            <a:r>
              <a:t>• Moving median: smooth(t) = median(score[t−w:t+w])</a:t>
            </a:r>
          </a:p>
          <a:p>
            <a:pPr>
              <a:spcAft>
                <a:spcPts val="1200"/>
              </a:spcAft>
              <a:defRPr sz="1800"/>
            </a:pPr>
            <a:r>
              <a:t>• Morphological filtering: binary_dilation / erosion for hotspot maps</a:t>
            </a:r>
          </a:p>
          <a:p>
            <a:pPr>
              <a:spcAft>
                <a:spcPts val="1200"/>
              </a:spcAft>
              <a:defRPr sz="1800"/>
            </a:pPr>
            <a:r>
              <a:t>• Threshold: Top K% by score (K=10 default, adjustable)</a:t>
            </a:r>
          </a:p>
          <a:p>
            <a:pPr>
              <a:spcAft>
                <a:spcPts val="1200"/>
              </a:spcAft>
              <a:defRPr sz="1800"/>
            </a:pPr>
            <a:r>
              <a:t>• Pseudocode: See SCIENTIFIC_DOCUMENTATION.md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 A7: Pipeline 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1. traj = md.load(trajectory, topology)</a:t>
            </a:r>
          </a:p>
          <a:p>
            <a:pPr>
              <a:spcAft>
                <a:spcPts val="1200"/>
              </a:spcAft>
              <a:defRPr sz="1800"/>
            </a:pPr>
            <a:r>
              <a:t>• 2. features = compute_features(traj) → features.npy</a:t>
            </a:r>
          </a:p>
          <a:p>
            <a:pPr>
              <a:spcAft>
                <a:spcPts val="1200"/>
              </a:spcAft>
              <a:defRPr sz="1800"/>
            </a:pPr>
            <a:r>
              <a:t>• 3. tica = TICA(lag=10, dim=5).fit(features)</a:t>
            </a:r>
          </a:p>
          <a:p>
            <a:pPr>
              <a:spcAft>
                <a:spcPts val="1200"/>
              </a:spcAft>
              <a:defRPr sz="1800"/>
            </a:pPr>
            <a:r>
              <a:t>• 4. tica_coords = tica.transform(features) → tica_coords.npy</a:t>
            </a:r>
          </a:p>
          <a:p>
            <a:pPr>
              <a:spcAft>
                <a:spcPts val="1200"/>
              </a:spcAft>
              <a:defRPr sz="1800"/>
            </a:pPr>
            <a:r>
              <a:t>• 5. kmeans = KMeans(n_clusters=30).fit(tica_coords)</a:t>
            </a:r>
          </a:p>
          <a:p>
            <a:pPr>
              <a:spcAft>
                <a:spcPts val="1200"/>
              </a:spcAft>
              <a:defRPr sz="1800"/>
            </a:pPr>
            <a:r>
              <a:t>• 6. dtraj = kmeans.transform(tica_coords) → dtraj.npy</a:t>
            </a:r>
          </a:p>
          <a:p>
            <a:pPr>
              <a:spcAft>
                <a:spcPts val="1200"/>
              </a:spcAft>
              <a:defRPr sz="1800"/>
            </a:pPr>
            <a:r>
              <a:t>• 7. msm = MSM(lag=30).fit(dtraj)</a:t>
            </a:r>
          </a:p>
          <a:p>
            <a:pPr>
              <a:spcAft>
                <a:spcPts val="1200"/>
              </a:spcAft>
              <a:defRPr sz="1800"/>
            </a:pPr>
            <a:r>
              <a:t>• 8. scores = compute_anomaly_signals(msm, dtraj, tica_coords)</a:t>
            </a:r>
          </a:p>
          <a:p>
            <a:pPr>
              <a:spcAft>
                <a:spcPts val="1200"/>
              </a:spcAft>
              <a:defRPr sz="1800"/>
            </a:pPr>
            <a:r>
              <a:t>• 9. fused = rank_normalize(scores).median(axis=1)</a:t>
            </a:r>
          </a:p>
          <a:p>
            <a:pPr>
              <a:spcAft>
                <a:spcPts val="1200"/>
              </a:spcAft>
              <a:defRPr sz="1800"/>
            </a:pPr>
            <a:r>
              <a:t>• 10. export(fused, residue_hotspots, ...)→ JSON/CSV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 A8: Hyperparameters &amp; 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tICA lag: 10 frames (from VAMP-2 selection)</a:t>
            </a:r>
          </a:p>
          <a:p>
            <a:pPr>
              <a:spcAft>
                <a:spcPts val="1200"/>
              </a:spcAft>
              <a:defRPr sz="1800"/>
            </a:pPr>
            <a:r>
              <a:t>• tICA dimensions: 5</a:t>
            </a:r>
          </a:p>
          <a:p>
            <a:pPr>
              <a:spcAft>
                <a:spcPts val="1200"/>
              </a:spcAft>
              <a:defRPr sz="1800"/>
            </a:pPr>
            <a:r>
              <a:t>• K-means clusters: 30</a:t>
            </a:r>
          </a:p>
          <a:p>
            <a:pPr>
              <a:spcAft>
                <a:spcPts val="1200"/>
              </a:spcAft>
              <a:defRPr sz="1800"/>
            </a:pPr>
            <a:r>
              <a:t>• MSM lag: 30 frames</a:t>
            </a:r>
          </a:p>
          <a:p>
            <a:pPr>
              <a:spcAft>
                <a:spcPts val="1200"/>
              </a:spcAft>
              <a:defRPr sz="1800"/>
            </a:pPr>
            <a:r>
              <a:t>• k-NN neighbors: 20 (for density signal)</a:t>
            </a:r>
          </a:p>
          <a:p>
            <a:pPr>
              <a:spcAft>
                <a:spcPts val="1200"/>
              </a:spcAft>
              <a:defRPr sz="1800"/>
            </a:pPr>
            <a:r>
              <a:t>• Bootstrap iterations: 100 (MSM), 2000 (metrics)</a:t>
            </a:r>
          </a:p>
          <a:p>
            <a:pPr>
              <a:spcAft>
                <a:spcPts val="1200"/>
              </a:spcAft>
              <a:defRPr sz="1800"/>
            </a:pPr>
            <a:r>
              <a:t>• Random seeds: global=42, kmeans=42, bootstrap=123</a:t>
            </a:r>
          </a:p>
          <a:p>
            <a:pPr>
              <a:spcAft>
                <a:spcPts val="1200"/>
              </a:spcAft>
              <a:defRPr sz="1800"/>
            </a:pPr>
            <a:r>
              <a:t>• Config file: configs/pipeline.yaml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 A9: Data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Git commit: 7137f94e341c</a:t>
            </a:r>
          </a:p>
          <a:p>
            <a:pPr>
              <a:spcAft>
                <a:spcPts val="1200"/>
              </a:spcAft>
              <a:defRPr sz="1800"/>
            </a:pPr>
            <a:r>
              <a:t>• Generation date: 2025-11-30 09:06:25</a:t>
            </a:r>
          </a:p>
          <a:p>
            <a:pPr>
              <a:spcAft>
                <a:spcPts val="1200"/>
              </a:spcAft>
              <a:defRPr sz="1800"/>
            </a:pPr>
            <a:r>
              <a:t>• Command: python tools/compute_presentation_metrics.py --bootstrap 2000 --seed 0</a:t>
            </a:r>
          </a:p>
          <a:p>
            <a:pPr>
              <a:spcAft>
                <a:spcPts val="1200"/>
              </a:spcAft>
              <a:defRPr sz="1800"/>
            </a:pPr>
            <a:r>
              <a:t>• Metrics file: outputs/summary/metrics_summary.csv</a:t>
            </a:r>
          </a:p>
          <a:p>
            <a:pPr>
              <a:spcAft>
                <a:spcPts val="1200"/>
              </a:spcAft>
              <a:defRPr sz="1800"/>
            </a:pPr>
            <a:r>
              <a:t>• Example frames: python tools/export_example_frames.py --out-dir outputs/summary</a:t>
            </a:r>
          </a:p>
          <a:p>
            <a:pPr>
              <a:spcAft>
                <a:spcPts val="1200"/>
              </a:spcAft>
              <a:defRPr sz="1800"/>
            </a:pPr>
            <a:r>
              <a:t>• Requirements: pip install -r requirements_metrics.txt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Appendix A10: Bibliography (BibTeX)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@article{perez2013tica, title={Identification of slow...}, author={Pérez-Hernández et al.}, journal={JCP}, year={2013}}</a:t>
            </a:r>
          </a:p>
          <a:p>
            <a:pPr>
              <a:spcAft>
                <a:spcPts val="1200"/>
              </a:spcAft>
              <a:defRPr sz="1800"/>
            </a:pPr>
            <a:r>
              <a:t>• @article{prinz2011msm, title={Markov models...}, author={Prinz et al.}, journal={JCP}, year={2011}}</a:t>
            </a:r>
          </a:p>
          <a:p>
            <a:pPr>
              <a:spcAft>
                <a:spcPts val="1200"/>
              </a:spcAft>
              <a:defRPr sz="1800"/>
            </a:pPr>
            <a:r>
              <a:t>• @article{chandola2009anomaly, title={Anomaly detection: A survey}, author={Chandola et al.}, journal={ACM CSUR}, year={2009}}</a:t>
            </a:r>
          </a:p>
          <a:p>
            <a:pPr>
              <a:spcAft>
                <a:spcPts val="1200"/>
              </a:spcAft>
              <a:defRPr sz="1800"/>
            </a:pPr>
            <a:r>
              <a:t>• @book{efron1993bootstrap, title={An Introduction to the Bootstrap}, author={Efron &amp; Tibshirani}, year={1993}}</a:t>
            </a:r>
          </a:p>
          <a:p>
            <a:pPr>
              <a:spcAft>
                <a:spcPts val="1200"/>
              </a:spcAft>
              <a:defRPr sz="1800"/>
            </a:pPr>
            <a:r>
              <a:t>• @article{wu2020vamp, title={Variational Approach...}, author={Wu &amp; Noé}, journal={J. Nonlinear Sci.}, year={2020}}</a:t>
            </a:r>
          </a:p>
          <a:p>
            <a:pPr>
              <a:spcAft>
                <a:spcPts val="1200"/>
              </a:spcAft>
              <a:defRPr sz="1800"/>
            </a:pPr>
            <a:r>
              <a:t>• Full BibTeX: See SCIENTIFIC_DOCUMENTATION.md References 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