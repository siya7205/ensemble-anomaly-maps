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/>
            </a:pPr>
            <a:r>
              <a:t>Ensemble Anomaly Maps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Dynamic Hotspot Detection in Molecular Dynamics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Problem: Identify anomalous conformations in MD trajectories</a:t>
            </a:r>
          </a:p>
          <a:p>
            <a:pPr>
              <a:spcAft>
                <a:spcPts val="800"/>
              </a:spcAft>
              <a:defRPr sz="1800"/>
            </a:pPr>
            <a:r>
              <a:t>• Result: AUROC = 1.000 on 200 frames</a:t>
            </a:r>
          </a:p>
          <a:p>
            <a:pPr>
              <a:spcAft>
                <a:spcPts val="800"/>
              </a:spcAft>
              <a:defRPr sz="1800"/>
            </a:pPr>
            <a:r>
              <a:t>• Ask: Approve 2-week pilot on prospective trajectories</a:t>
            </a:r>
          </a:p>
          <a:p>
            <a:pPr>
              <a:spcAft>
                <a:spcPts val="800"/>
              </a:spcAft>
              <a:defRPr sz="1800"/>
            </a:pPr>
            <a:r>
              <a:t>• Note: Perfect AUROC suggests synthetic test set - needs validation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1. Problem Statement &amp; Motivation</a:t>
            </a:r>
          </a:p>
          <a:p>
            <a:pPr>
              <a:spcAft>
                <a:spcPts val="800"/>
              </a:spcAft>
              <a:defRPr sz="1800"/>
            </a:pPr>
            <a:r>
              <a:t>2. Pipeline Overview: tICA → MSM → Anomaly Scoring</a:t>
            </a:r>
          </a:p>
          <a:p>
            <a:pPr>
              <a:spcAft>
                <a:spcPts val="800"/>
              </a:spcAft>
              <a:defRPr sz="1800"/>
            </a:pPr>
            <a:r>
              <a:t>3. Data, Features, and Preprocessing</a:t>
            </a:r>
          </a:p>
          <a:p>
            <a:pPr>
              <a:spcAft>
                <a:spcPts val="800"/>
              </a:spcAft>
              <a:defRPr sz="1800"/>
            </a:pPr>
            <a:r>
              <a:t>4. Methods: Base Detectors and Ensemble Fusion</a:t>
            </a:r>
          </a:p>
          <a:p>
            <a:pPr>
              <a:spcAft>
                <a:spcPts val="800"/>
              </a:spcAft>
              <a:defRPr sz="1800"/>
            </a:pPr>
            <a:r>
              <a:t>5. Results: ROC/PR Curves, Hotspot Examples</a:t>
            </a:r>
          </a:p>
          <a:p>
            <a:pPr>
              <a:spcAft>
                <a:spcPts val="800"/>
              </a:spcAft>
              <a:defRPr sz="1800"/>
            </a:pPr>
            <a:r>
              <a:t>6. Validation Plan and Limitations</a:t>
            </a:r>
          </a:p>
          <a:p>
            <a:pPr>
              <a:spcAft>
                <a:spcPts val="800"/>
              </a:spcAft>
              <a:defRPr sz="1800"/>
            </a:pPr>
            <a:r>
              <a:t>7. Technical Appendix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Goal: Detect conformational anomalies in protein MD simulations</a:t>
            </a:r>
          </a:p>
          <a:p>
            <a:pPr>
              <a:spcAft>
                <a:spcPts val="800"/>
              </a:spcAft>
              <a:defRPr sz="1800"/>
            </a:pPr>
            <a:r>
              <a:t>• Why: Anomalous states often indicate functional sites</a:t>
            </a:r>
          </a:p>
          <a:p>
            <a:pPr>
              <a:spcAft>
                <a:spcPts val="800"/>
              </a:spcAft>
              <a:defRPr sz="1800"/>
            </a:pPr>
            <a:r>
              <a:t>• Challenge: High-dimensional data (10^4-10^5 atoms)</a:t>
            </a:r>
          </a:p>
          <a:p>
            <a:pPr>
              <a:spcAft>
                <a:spcPts val="800"/>
              </a:spcAft>
              <a:defRPr sz="1800"/>
            </a:pPr>
            <a:r>
              <a:t>• Solution: ML-based dimensionality reduction + kinetic modeling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Pipeline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Stage 1: Trajectory parsing (MDTraj)</a:t>
            </a:r>
          </a:p>
          <a:p>
            <a:pPr>
              <a:spcAft>
                <a:spcPts val="800"/>
              </a:spcAft>
              <a:defRPr sz="1800"/>
            </a:pPr>
            <a:r>
              <a:t>Stage 2: Feature extraction (dihedrals, contacts, RMSD)</a:t>
            </a:r>
          </a:p>
          <a:p>
            <a:pPr>
              <a:spcAft>
                <a:spcPts val="800"/>
              </a:spcAft>
              <a:defRPr sz="1800"/>
            </a:pPr>
            <a:r>
              <a:t>Stage 3: tICA projection (slow collective coordinates)</a:t>
            </a:r>
          </a:p>
          <a:p>
            <a:pPr>
              <a:spcAft>
                <a:spcPts val="800"/>
              </a:spcAft>
              <a:defRPr sz="1800"/>
            </a:pPr>
            <a:r>
              <a:t>Stage 4: MSM construction (discrete states, transitions)</a:t>
            </a:r>
          </a:p>
          <a:p>
            <a:pPr>
              <a:spcAft>
                <a:spcPts val="800"/>
              </a:spcAft>
              <a:defRPr sz="1800"/>
            </a:pPr>
            <a:r>
              <a:t>Stage 5: Anomaly scoring (rarity, surprise, density)</a:t>
            </a:r>
          </a:p>
          <a:p>
            <a:pPr>
              <a:spcAft>
                <a:spcPts val="800"/>
              </a:spcAft>
              <a:defRPr sz="1800"/>
            </a:pPr>
            <a:r>
              <a:t>Stage 6: Fusion &amp; export (rank-normalized scores)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Temporal Reduction: 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Time-lagged Independent Component Analysis</a:t>
            </a:r>
          </a:p>
          <a:p>
            <a:pPr>
              <a:spcAft>
                <a:spcPts val="800"/>
              </a:spcAft>
              <a:defRPr sz="1800"/>
            </a:pPr>
            <a:r>
              <a:t>• Identifies slow motions (functionally relevant)</a:t>
            </a:r>
          </a:p>
          <a:p>
            <a:pPr>
              <a:spcAft>
                <a:spcPts val="800"/>
              </a:spcAft>
              <a:defRPr sz="1800"/>
            </a:pPr>
            <a:r>
              <a:t>• Equation: C_tau * v = lambda * C_0 * v</a:t>
            </a:r>
          </a:p>
          <a:p>
            <a:pPr>
              <a:spcAft>
                <a:spcPts val="800"/>
              </a:spcAft>
              <a:defRPr sz="1800"/>
            </a:pPr>
            <a:r>
              <a:t>• VAMP-2 score for model selection</a:t>
            </a:r>
          </a:p>
          <a:p>
            <a:pPr>
              <a:spcAft>
                <a:spcPts val="800"/>
              </a:spcAft>
              <a:defRPr sz="1800"/>
            </a:pPr>
            <a:r>
              <a:t>• Parameters: lag in {5,10,15,20,30,50}, dim in {2-10}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Markov State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Discretize tICA space into k=30 states (k-means)</a:t>
            </a:r>
          </a:p>
          <a:p>
            <a:pPr>
              <a:spcAft>
                <a:spcPts val="800"/>
              </a:spcAft>
              <a:defRPr sz="1800"/>
            </a:pPr>
            <a:r>
              <a:t>• Count transitions at lag tau</a:t>
            </a:r>
          </a:p>
          <a:p>
            <a:pPr>
              <a:spcAft>
                <a:spcPts val="800"/>
              </a:spcAft>
              <a:defRPr sz="1800"/>
            </a:pPr>
            <a:r>
              <a:t>• MLE: P_ij = C_ij / sum_j C_ij</a:t>
            </a:r>
          </a:p>
          <a:p>
            <a:pPr>
              <a:spcAft>
                <a:spcPts val="800"/>
              </a:spcAft>
              <a:defRPr sz="1800"/>
            </a:pPr>
            <a:r>
              <a:t>• Stationary distribution pi (rare states)</a:t>
            </a:r>
          </a:p>
          <a:p>
            <a:pPr>
              <a:spcAft>
                <a:spcPts val="800"/>
              </a:spcAft>
              <a:defRPr sz="1800"/>
            </a:pPr>
            <a:r>
              <a:t>• Validation: Chapman-Kolmogorov test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Anomaly Signals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Signal 1: State Rarity = 1 - pi[state(t)]</a:t>
            </a:r>
          </a:p>
          <a:p>
            <a:pPr>
              <a:spcAft>
                <a:spcPts val="800"/>
              </a:spcAft>
              <a:defRPr sz="1800"/>
            </a:pPr>
            <a:r>
              <a:t>Signal 2: Transition Surprise = -log(P[s-&gt;s'])</a:t>
            </a:r>
          </a:p>
          <a:p>
            <a:pPr>
              <a:spcAft>
                <a:spcPts val="800"/>
              </a:spcAft>
              <a:defRPr sz="1800"/>
            </a:pPr>
            <a:r>
              <a:t>Signal 3: Local Density = k-NN distance</a:t>
            </a:r>
          </a:p>
          <a:p>
            <a:pPr>
              <a:spcAft>
                <a:spcPts val="800"/>
              </a:spcAft>
              <a:defRPr sz="1800"/>
            </a:pPr>
            <a:r>
              <a:t>Signal 4: Soft Entropy (optional HMM)</a:t>
            </a:r>
          </a:p>
          <a:p>
            <a:pPr>
              <a:spcAft>
                <a:spcPts val="800"/>
              </a:spcAft>
              <a:defRPr sz="1800"/>
            </a:pPr>
            <a:r>
              <a:t>Signal 5: Energy Stress (knowledge-based)</a:t>
            </a:r>
          </a:p>
          <a:p>
            <a:pPr>
              <a:spcAft>
                <a:spcPts val="800"/>
              </a:spcAft>
              <a:defRPr sz="1800"/>
            </a:pPr>
            <a:r>
              <a:t>Signal 6: Pocket Volatility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Fusion &amp; Thresholds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Rank normalization: Each signal to [0,1]</a:t>
            </a:r>
          </a:p>
          <a:p>
            <a:pPr>
              <a:spcAft>
                <a:spcPts val="800"/>
              </a:spcAft>
              <a:defRPr sz="1800"/>
            </a:pPr>
            <a:r>
              <a:t>• Median fusion: score = median(signals)</a:t>
            </a:r>
          </a:p>
          <a:p>
            <a:pPr>
              <a:spcAft>
                <a:spcPts val="800"/>
              </a:spcAft>
              <a:defRPr sz="1800"/>
            </a:pPr>
            <a:r>
              <a:t>• Moving median smoothing (window=5)</a:t>
            </a:r>
          </a:p>
          <a:p>
            <a:pPr>
              <a:spcAft>
                <a:spcPts val="800"/>
              </a:spcAft>
              <a:defRPr sz="1800"/>
            </a:pPr>
            <a:r>
              <a:t>• Threshold: Top 10% by score</a:t>
            </a:r>
          </a:p>
          <a:p>
            <a:pPr>
              <a:spcAft>
                <a:spcPts val="800"/>
              </a:spcAft>
              <a:defRPr sz="1800"/>
            </a:pPr>
            <a:r>
              <a:t>• Per-residue: Aggregate by tICA loadings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Numeric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N samples: 200</a:t>
            </a:r>
          </a:p>
          <a:p>
            <a:pPr>
              <a:spcAft>
                <a:spcPts val="800"/>
              </a:spcAft>
              <a:defRPr sz="1800"/>
            </a:pPr>
            <a:r>
              <a:t>• N positive / negative: 44 / 156</a:t>
            </a:r>
          </a:p>
          <a:p>
            <a:pPr>
              <a:spcAft>
                <a:spcPts val="800"/>
              </a:spcAft>
              <a:defRPr sz="1800"/>
            </a:pPr>
            <a:r>
              <a:t>• AUROC: 1.000 (CI: 1.000-1.000)</a:t>
            </a:r>
          </a:p>
          <a:p>
            <a:pPr>
              <a:spcAft>
                <a:spcPts val="800"/>
              </a:spcAft>
              <a:defRPr sz="1800"/>
            </a:pPr>
            <a:r>
              <a:t>• AUPRC: 1.000 (CI: 1.000-1.000)</a:t>
            </a:r>
          </a:p>
          <a:p>
            <a:pPr>
              <a:spcAft>
                <a:spcPts val="800"/>
              </a:spcAft>
              <a:defRPr sz="1800"/>
            </a:pPr>
            <a:r>
              <a:t>• Precision@1%: 1.000</a:t>
            </a:r>
          </a:p>
          <a:p>
            <a:pPr>
              <a:spcAft>
                <a:spcPts val="800"/>
              </a:spcAft>
              <a:defRPr sz="1800"/>
            </a:pPr>
            <a:r>
              <a:t>• Precision@5%: 1.000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Top Residue Hotspots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Top 5 Residue Hotspots:</a:t>
            </a:r>
          </a:p>
          <a:p>
            <a:pPr>
              <a:spcAft>
                <a:spcPts val="800"/>
              </a:spcAft>
              <a:defRPr sz="1800"/>
            </a:pPr>
            <a:r>
              <a:t>  Residue 74: IF score = 0.0108</a:t>
            </a:r>
          </a:p>
          <a:p>
            <a:pPr>
              <a:spcAft>
                <a:spcPts val="800"/>
              </a:spcAft>
              <a:defRPr sz="1800"/>
            </a:pPr>
            <a:r>
              <a:t>  Residue 58: IF score = -0.0001</a:t>
            </a:r>
          </a:p>
          <a:p>
            <a:pPr>
              <a:spcAft>
                <a:spcPts val="800"/>
              </a:spcAft>
              <a:defRPr sz="1800"/>
            </a:pPr>
            <a:r>
              <a:t>  Residue 44: IF score = -0.0092</a:t>
            </a:r>
          </a:p>
          <a:p>
            <a:pPr>
              <a:spcAft>
                <a:spcPts val="800"/>
              </a:spcAft>
              <a:defRPr sz="1800"/>
            </a:pPr>
            <a:r>
              <a:t>  Residue 45: IF score = -0.0175</a:t>
            </a:r>
          </a:p>
          <a:p>
            <a:pPr>
              <a:spcAft>
                <a:spcPts val="800"/>
              </a:spcAft>
              <a:defRPr sz="1800"/>
            </a:pPr>
            <a:r>
              <a:t>  Residue 62: IF score = -0.0320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Validation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Bootstrap: B=2000 for 95% CI</a:t>
            </a:r>
          </a:p>
          <a:p>
            <a:pPr>
              <a:spcAft>
                <a:spcPts val="800"/>
              </a:spcAft>
              <a:defRPr sz="1800"/>
            </a:pPr>
            <a:r>
              <a:t>• Grouped k-fold: Stratified splits</a:t>
            </a:r>
          </a:p>
          <a:p>
            <a:pPr>
              <a:spcAft>
                <a:spcPts val="800"/>
              </a:spcAft>
              <a:defRPr sz="1800"/>
            </a:pPr>
            <a:r>
              <a:t>• Paired Wilcoxon: Compare methods</a:t>
            </a:r>
          </a:p>
          <a:p>
            <a:pPr>
              <a:spcAft>
                <a:spcPts val="800"/>
              </a:spcAft>
              <a:defRPr sz="1800"/>
            </a:pPr>
            <a:r>
              <a:t>• McNemar test: Binary predictions</a:t>
            </a:r>
          </a:p>
          <a:p>
            <a:pPr>
              <a:spcAft>
                <a:spcPts val="800"/>
              </a:spcAft>
              <a:defRPr sz="1800"/>
            </a:pPr>
            <a:r>
              <a:t>• Go/No-Go: AUROC &gt;= 0.85 on prospective data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Computational predictions need experimental validation</a:t>
            </a:r>
          </a:p>
          <a:p>
            <a:pPr>
              <a:spcAft>
                <a:spcPts val="800"/>
              </a:spcAft>
              <a:defRPr sz="1800"/>
            </a:pPr>
            <a:r>
              <a:t>• Hotspots are hypotheses, not proven sites</a:t>
            </a:r>
          </a:p>
          <a:p>
            <a:pPr>
              <a:spcAft>
                <a:spcPts val="800"/>
              </a:spcAft>
              <a:defRPr sz="1800"/>
            </a:pPr>
            <a:r>
              <a:t>• Required: mutagenesis, NMR, HDX-MS validation</a:t>
            </a:r>
          </a:p>
          <a:p>
            <a:pPr>
              <a:spcAft>
                <a:spcPts val="800"/>
              </a:spcAft>
              <a:defRPr sz="1800"/>
            </a:pPr>
            <a:r>
              <a:t>• Conservation analysis recommended</a:t>
            </a:r>
          </a:p>
          <a:p>
            <a:pPr>
              <a:spcAft>
                <a:spcPts val="800"/>
              </a:spcAft>
              <a:defRPr sz="1800"/>
            </a:pPr>
            <a:r>
              <a:t>• Perfect metrics may indicate overfitting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Specific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Approve 2-week prospective pilot</a:t>
            </a:r>
          </a:p>
          <a:p>
            <a:pPr>
              <a:spcAft>
                <a:spcPts val="800"/>
              </a:spcAft>
              <a:defRPr sz="1800"/>
            </a:pPr>
            <a:r>
              <a:t>• Resources: 1 compute node, 1 FTE analyst</a:t>
            </a:r>
          </a:p>
          <a:p>
            <a:pPr>
              <a:spcAft>
                <a:spcPts val="800"/>
              </a:spcAft>
              <a:defRPr sz="1800"/>
            </a:pPr>
            <a:r>
              <a:t>• Access to 3-5 new MD trajectories</a:t>
            </a:r>
          </a:p>
          <a:p>
            <a:pPr>
              <a:spcAft>
                <a:spcPts val="800"/>
              </a:spcAft>
              <a:defRPr sz="1800"/>
            </a:pPr>
            <a:r>
              <a:t>• Deliverable: Updated metrics and recommendations</a:t>
            </a:r>
          </a:p>
          <a:p>
            <a:pPr>
              <a:spcAft>
                <a:spcPts val="800"/>
              </a:spcAft>
              <a:defRPr sz="1800"/>
            </a:pPr>
            <a:r>
              <a:t>• Success criteria: AUROC &gt;= 0.85 on new data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tICA: Perez-Hernandez et al. JCTC 2013</a:t>
            </a:r>
          </a:p>
          <a:p>
            <a:pPr>
              <a:spcAft>
                <a:spcPts val="800"/>
              </a:spcAft>
              <a:defRPr sz="1800"/>
            </a:pPr>
            <a:r>
              <a:t>• MSM: Prinz et al. JCP 2011</a:t>
            </a:r>
          </a:p>
          <a:p>
            <a:pPr>
              <a:spcAft>
                <a:spcPts val="800"/>
              </a:spcAft>
              <a:defRPr sz="1800"/>
            </a:pPr>
            <a:r>
              <a:t>• Anomaly Detection: Chandola et al. ACM CSUR 2009</a:t>
            </a:r>
          </a:p>
          <a:p>
            <a:pPr>
              <a:spcAft>
                <a:spcPts val="800"/>
              </a:spcAft>
              <a:defRPr sz="1800"/>
            </a:pPr>
            <a:r>
              <a:t>• Bootstrap: Efron &amp; Tibshirani 1993</a:t>
            </a:r>
          </a:p>
          <a:p>
            <a:pPr>
              <a:spcAft>
                <a:spcPts val="800"/>
              </a:spcAft>
              <a:defRPr sz="1800"/>
            </a:pPr>
            <a:r>
              <a:t>• Software: deeptime, MDTraj, scikit-learn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Technical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The following slides contain detailed technical information:</a:t>
            </a:r>
          </a:p>
          <a:p>
            <a:pPr>
              <a:spcAft>
                <a:spcPts val="800"/>
              </a:spcAft>
              <a:defRPr sz="1800"/>
            </a:pPr>
            <a:r>
              <a:t>• A1: tICA Mathematics</a:t>
            </a:r>
          </a:p>
          <a:p>
            <a:pPr>
              <a:spcAft>
                <a:spcPts val="800"/>
              </a:spcAft>
              <a:defRPr sz="1800"/>
            </a:pPr>
            <a:r>
              <a:t>• A2: MSM Mathematics</a:t>
            </a:r>
          </a:p>
          <a:p>
            <a:pPr>
              <a:spcAft>
                <a:spcPts val="800"/>
              </a:spcAft>
              <a:defRPr sz="1800"/>
            </a:pPr>
            <a:r>
              <a:t>• A3: Anomaly Signal Formulas</a:t>
            </a:r>
          </a:p>
          <a:p>
            <a:pPr>
              <a:spcAft>
                <a:spcPts val="800"/>
              </a:spcAft>
              <a:defRPr sz="1800"/>
            </a:pPr>
            <a:r>
              <a:t>• A4: Statistical Testing</a:t>
            </a:r>
          </a:p>
          <a:p>
            <a:pPr>
              <a:spcAft>
                <a:spcPts val="800"/>
              </a:spcAft>
              <a:defRPr sz="1800"/>
            </a:pPr>
            <a:r>
              <a:t>• A5: Hyperparameters</a:t>
            </a:r>
          </a:p>
          <a:p>
            <a:pPr>
              <a:spcAft>
                <a:spcPts val="800"/>
              </a:spcAft>
              <a:defRPr sz="1800"/>
            </a:pPr>
            <a:r>
              <a:t>• A6: Bibliography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A1: tICA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Time-lagged covariance: C_tau = (1/T) sum_t x_t * x_{t+tau}^T</a:t>
            </a:r>
          </a:p>
          <a:p>
            <a:pPr>
              <a:spcAft>
                <a:spcPts val="800"/>
              </a:spcAft>
              <a:defRPr sz="1800"/>
            </a:pPr>
            <a:r>
              <a:t>• Generalized eigenvalue: C_tau * v = lambda * C_0 * v</a:t>
            </a:r>
          </a:p>
          <a:p>
            <a:pPr>
              <a:spcAft>
                <a:spcPts val="800"/>
              </a:spcAft>
              <a:defRPr sz="1800"/>
            </a:pPr>
            <a:r>
              <a:t>• Timescale: tau_i = -lag / ln(lambda_i)</a:t>
            </a:r>
          </a:p>
          <a:p>
            <a:pPr>
              <a:spcAft>
                <a:spcPts val="800"/>
              </a:spcAft>
              <a:defRPr sz="1800"/>
            </a:pPr>
            <a:r>
              <a:t>• VAMP-2 score: sum_i sigma_i^2</a:t>
            </a:r>
          </a:p>
          <a:p>
            <a:pPr>
              <a:spcAft>
                <a:spcPts val="800"/>
              </a:spcAft>
              <a:defRPr sz="1800"/>
            </a:pPr>
            <a:r>
              <a:t>• Validation: 20% held-out for model selection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A2: MSM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Transition count: C_ij = #{t: s(t)=i, s(t+tau)=j}</a:t>
            </a:r>
          </a:p>
          <a:p>
            <a:pPr>
              <a:spcAft>
                <a:spcPts val="800"/>
              </a:spcAft>
              <a:defRPr sz="1800"/>
            </a:pPr>
            <a:r>
              <a:t>• MLE: P_ij = C_ij / sum_j C_ij</a:t>
            </a:r>
          </a:p>
          <a:p>
            <a:pPr>
              <a:spcAft>
                <a:spcPts val="800"/>
              </a:spcAft>
              <a:defRPr sz="1800"/>
            </a:pPr>
            <a:r>
              <a:t>• Reversible: pi_i * P_ij = pi_j * P_ji</a:t>
            </a:r>
          </a:p>
          <a:p>
            <a:pPr>
              <a:spcAft>
                <a:spcPts val="800"/>
              </a:spcAft>
              <a:defRPr sz="1800"/>
            </a:pPr>
            <a:r>
              <a:t>• Implied timescales: tau_k = -lag / ln(lambda_k)</a:t>
            </a:r>
          </a:p>
          <a:p>
            <a:pPr>
              <a:spcAft>
                <a:spcPts val="800"/>
              </a:spcAft>
              <a:defRPr sz="1800"/>
            </a:pPr>
            <a:r>
              <a:t>• Chapman-Kolmogorov: P(n*tau) = P(tau)^n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A3: Anomaly Signal Formulas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Rarity: r(t) = 1 - pi[s(t)]</a:t>
            </a:r>
          </a:p>
          <a:p>
            <a:pPr>
              <a:spcAft>
                <a:spcPts val="800"/>
              </a:spcAft>
              <a:defRPr sz="1800"/>
            </a:pPr>
            <a:r>
              <a:t>• Surprise: s(t) = -log(P[s(t)-&gt;s(t+1)] + 1e-12)</a:t>
            </a:r>
          </a:p>
          <a:p>
            <a:pPr>
              <a:spcAft>
                <a:spcPts val="800"/>
              </a:spcAft>
              <a:defRPr sz="1800"/>
            </a:pPr>
            <a:r>
              <a:t>• Density: d(t) = (1/k) sum_{j in kNN} ||x_t - x_j||</a:t>
            </a:r>
          </a:p>
          <a:p>
            <a:pPr>
              <a:spcAft>
                <a:spcPts val="800"/>
              </a:spcAft>
              <a:defRPr sz="1800"/>
            </a:pPr>
            <a:r>
              <a:t>• Entropy: H(t) = -sum_i q(i|t) * log(q(i|t))</a:t>
            </a:r>
          </a:p>
          <a:p>
            <a:pPr>
              <a:spcAft>
                <a:spcPts val="800"/>
              </a:spcAft>
              <a:defRPr sz="1800"/>
            </a:pPr>
            <a:r>
              <a:t>• Fusion: score = median(normalized signals)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A4: Statistical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Bootstrap: Sample n indices with replacement B times</a:t>
            </a:r>
          </a:p>
          <a:p>
            <a:pPr>
              <a:spcAft>
                <a:spcPts val="800"/>
              </a:spcAft>
              <a:defRPr sz="1800"/>
            </a:pPr>
            <a:r>
              <a:t>• Percentile CI: [Q_{alpha/2}, Q_{1-alpha/2}]</a:t>
            </a:r>
          </a:p>
          <a:p>
            <a:pPr>
              <a:spcAft>
                <a:spcPts val="800"/>
              </a:spcAft>
              <a:defRPr sz="1800"/>
            </a:pPr>
            <a:r>
              <a:t>• Paired Wilcoxon: H0: median diff = 0</a:t>
            </a:r>
          </a:p>
          <a:p>
            <a:pPr>
              <a:spcAft>
                <a:spcPts val="800"/>
              </a:spcAft>
              <a:defRPr sz="1800"/>
            </a:pPr>
            <a:r>
              <a:t>• McNemar: 2x2 table of disagreements</a:t>
            </a:r>
          </a:p>
          <a:p>
            <a:pPr>
              <a:spcAft>
                <a:spcPts val="800"/>
              </a:spcAft>
              <a:defRPr sz="1800"/>
            </a:pPr>
            <a:r>
              <a:t>• Effect size: Cohen's d = (mu1-mu2)/sigma_pooled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A5: Hyperparameters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tICA lag: 10 frames</a:t>
            </a:r>
          </a:p>
          <a:p>
            <a:pPr>
              <a:spcAft>
                <a:spcPts val="800"/>
              </a:spcAft>
              <a:defRPr sz="1800"/>
            </a:pPr>
            <a:r>
              <a:t>• tICA dimensions: 5</a:t>
            </a:r>
          </a:p>
          <a:p>
            <a:pPr>
              <a:spcAft>
                <a:spcPts val="800"/>
              </a:spcAft>
              <a:defRPr sz="1800"/>
            </a:pPr>
            <a:r>
              <a:t>• K-means clusters: 30</a:t>
            </a:r>
          </a:p>
          <a:p>
            <a:pPr>
              <a:spcAft>
                <a:spcPts val="800"/>
              </a:spcAft>
              <a:defRPr sz="1800"/>
            </a:pPr>
            <a:r>
              <a:t>• MSM lag: 30 frames</a:t>
            </a:r>
          </a:p>
          <a:p>
            <a:pPr>
              <a:spcAft>
                <a:spcPts val="800"/>
              </a:spcAft>
              <a:defRPr sz="1800"/>
            </a:pPr>
            <a:r>
              <a:t>• k-NN neighbors: 20</a:t>
            </a:r>
          </a:p>
          <a:p>
            <a:pPr>
              <a:spcAft>
                <a:spcPts val="800"/>
              </a:spcAft>
              <a:defRPr sz="1800"/>
            </a:pPr>
            <a:r>
              <a:t>• Bootstrap iterations: 2000</a:t>
            </a:r>
          </a:p>
          <a:p>
            <a:pPr>
              <a:spcAft>
                <a:spcPts val="800"/>
              </a:spcAft>
              <a:defRPr sz="1800"/>
            </a:pPr>
            <a:r>
              <a:t>• Random seed: 42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A6: 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Perez-Hernandez et al. (2013) JCTC - tICA</a:t>
            </a:r>
          </a:p>
          <a:p>
            <a:pPr>
              <a:spcAft>
                <a:spcPts val="800"/>
              </a:spcAft>
              <a:defRPr sz="1800"/>
            </a:pPr>
            <a:r>
              <a:t>Prinz et al. (2011) JCP - MSM</a:t>
            </a:r>
          </a:p>
          <a:p>
            <a:pPr>
              <a:spcAft>
                <a:spcPts val="800"/>
              </a:spcAft>
              <a:defRPr sz="1800"/>
            </a:pPr>
            <a:r>
              <a:t>Chandola et al. (2009) ACM CSUR - Anomaly Detection</a:t>
            </a:r>
          </a:p>
          <a:p>
            <a:pPr>
              <a:spcAft>
                <a:spcPts val="800"/>
              </a:spcAft>
              <a:defRPr sz="1800"/>
            </a:pPr>
            <a:r>
              <a:t>Efron &amp; Tibshirani (1993) Bootstrap</a:t>
            </a:r>
          </a:p>
          <a:p>
            <a:pPr>
              <a:spcAft>
                <a:spcPts val="800"/>
              </a:spcAft>
              <a:defRPr sz="1800"/>
            </a:pPr>
            <a:r>
              <a:t>Wu &amp; Noe (2020) J. Nonlinear Sci. - VAMP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